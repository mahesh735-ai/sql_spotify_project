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6719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2194560" cy="1234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" y="1572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#1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20040" y="182880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SPOTIFY DATA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320040" y="2578608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ANALYSIS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320040" y="34747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INSIGHTS FROM MUSIC STREAMING DATA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3977640"/>
            <a:ext cx="4114800" cy="36576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404164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— MAHESH THAKARE  |  MARCH 2026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949440" y="548640"/>
            <a:ext cx="2194560" cy="2194560"/>
          </a:xfrm>
          <a:prstGeom prst="ellipse">
            <a:avLst/>
          </a:prstGeom>
          <a:solidFill>
            <a:srgbClr val="1DB954">
              <a:alpha val="12000"/>
            </a:srgbClr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06640" y="2468880"/>
            <a:ext cx="1554480" cy="1554480"/>
          </a:xfrm>
          <a:prstGeom prst="ellipse">
            <a:avLst/>
          </a:prstGeom>
          <a:solidFill>
            <a:srgbClr val="1DB954">
              <a:alpha val="20000"/>
            </a:srgbClr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40880" y="9144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♪</a:t>
            </a:r>
            <a:endParaRPr lang="en-US" sz="6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PURPOSE OF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786384"/>
            <a:ext cx="3200400" cy="36576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goal of this project is to leverage Spotify streaming data to uncover key business insights — understanding artist performance, track popularity, audio feature patterns, and platform comparison using PostgreSQL.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737360"/>
            <a:ext cx="2788920" cy="2834640"/>
          </a:xfrm>
          <a:prstGeom prst="rect">
            <a:avLst/>
          </a:prstGeom>
          <a:solidFill>
            <a:srgbClr val="161616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2880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29768" y="2450592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2926080"/>
            <a:ext cx="2578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streams, views &amp; engagement across artists and tracks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64408" y="1737360"/>
            <a:ext cx="2788920" cy="2834640"/>
          </a:xfrm>
          <a:prstGeom prst="rect">
            <a:avLst/>
          </a:prstGeom>
          <a:solidFill>
            <a:srgbClr val="161616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82880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🎵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74136" y="2450592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Feature Insights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74136" y="2926080"/>
            <a:ext cx="2578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patterns in danceability, energy, tempo &amp; liveness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08776" y="1737360"/>
            <a:ext cx="2788920" cy="2834640"/>
          </a:xfrm>
          <a:prstGeom prst="rect">
            <a:avLst/>
          </a:prstGeom>
          <a:solidFill>
            <a:srgbClr val="161616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08776" y="182880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18504" y="2450592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Optimization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18504" y="2926080"/>
            <a:ext cx="2578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indexing to reduce execution time by 30× using EXPLAIN ANALYZE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SCHEMA &amp; 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786384"/>
            <a:ext cx="3200400" cy="36576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Table: spotify  (24 Columns)  |  Source: Kaggle  |  Tool: PostgreSQL 17 + pgAdmin 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4023360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artist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591056"/>
            <a:ext cx="4023360" cy="274320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184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883664"/>
            <a:ext cx="4023360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110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album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176272"/>
            <a:ext cx="4023360" cy="274320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037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album_type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468880"/>
            <a:ext cx="4023360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963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danceability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761488"/>
            <a:ext cx="4023360" cy="274320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889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054096"/>
            <a:ext cx="4023360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815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loudness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346704"/>
            <a:ext cx="4023360" cy="274320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741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speechiness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639312"/>
            <a:ext cx="4023360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6667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acousticness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931920"/>
            <a:ext cx="4023360" cy="274320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9593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instrumentalness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4224528"/>
            <a:ext cx="4023360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2519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liveness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517136"/>
            <a:ext cx="4023360" cy="274320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5445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valence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1298448"/>
            <a:ext cx="4114800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3258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1591056"/>
            <a:ext cx="4114800" cy="274320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16184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duration_min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1883664"/>
            <a:ext cx="4114800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19110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63440" y="2176272"/>
            <a:ext cx="4114800" cy="274320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22037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63440" y="2468880"/>
            <a:ext cx="4114800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24963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63440" y="2761488"/>
            <a:ext cx="4114800" cy="274320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27889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663440" y="3054096"/>
            <a:ext cx="4114800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0815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663440" y="3346704"/>
            <a:ext cx="4114800" cy="274320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33741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663440" y="3639312"/>
            <a:ext cx="4114800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36667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official_video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663440" y="3931920"/>
            <a:ext cx="4114800" cy="274320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39593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663440" y="4224528"/>
            <a:ext cx="4114800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42519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energy_liveness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663440" y="4517136"/>
            <a:ext cx="4114800" cy="274320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45445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most_played_on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Removed 2 rows with duration_min = 0  |  Cleaned dataset ready for analysis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QUERIES: EASY LEVEL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786384"/>
            <a:ext cx="3200400" cy="36576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8503920" cy="80467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75488" cy="80467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4754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04241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the names of all tracks that have more than 1 billion streams.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938528"/>
            <a:ext cx="8503920" cy="80467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938528"/>
            <a:ext cx="475488" cy="80467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38528"/>
            <a:ext cx="4754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1975104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albums along with their respective artists.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2871216"/>
            <a:ext cx="8503920" cy="80467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871216"/>
            <a:ext cx="475488" cy="80467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871216"/>
            <a:ext cx="4754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" y="290779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total number of comments for tracks where licensed = TRUE.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3803904"/>
            <a:ext cx="8503920" cy="80467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803904"/>
            <a:ext cx="475488" cy="80467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803904"/>
            <a:ext cx="4754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all tracks that belong to the album type 'single'.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EASY LEVEL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Retrieve tracks with more than 1 Billion Streams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943600" cy="36576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569C7A-6A12-C446-7590-1704806781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373" t="19675" r="1534" b="20181"/>
          <a:stretch>
            <a:fillRect/>
          </a:stretch>
        </p:blipFill>
        <p:spPr>
          <a:xfrm>
            <a:off x="320040" y="1122601"/>
            <a:ext cx="6970542" cy="32506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EASY LEVEL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Total Comments for Licensed Tracks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029200" cy="36576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11150" t="6212" r="21997" b="14601"/>
          <a:stretch>
            <a:fillRect/>
          </a:stretch>
        </p:blipFill>
        <p:spPr>
          <a:xfrm>
            <a:off x="320040" y="1088136"/>
            <a:ext cx="5461782" cy="191883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794760"/>
            <a:ext cx="8503920" cy="109728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886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Concept: SUM() aggregation + WHERE filter on boolean column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SUM(comments) adds up all comment counts for rows where licensed = 'true'  →  Result: 497,015,695 total comments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6AE844-6BDF-1450-6E81-A2A45EF942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39" t="44991" r="49385" b="34400"/>
          <a:stretch>
            <a:fillRect/>
          </a:stretch>
        </p:blipFill>
        <p:spPr>
          <a:xfrm>
            <a:off x="6256606" y="2597598"/>
            <a:ext cx="2567354" cy="10600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EASY LEVEL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Tracks belonging to album type 'single'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14800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r>
              <a:rPr lang="en-US" sz="13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spotify
</a:t>
            </a:r>
            <a:r>
              <a:rPr lang="en-US" sz="13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album_type = </a:t>
            </a: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'single'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160520" cy="96012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987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00600" y="126187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single tracks from dataset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(album_type = 'single' filter applied)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0116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Count total tracks by each artist (Top Results)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395728"/>
            <a:ext cx="4114800" cy="1417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87168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
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artist,
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(track) </a:t>
            </a: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Total_no_Tracks
</a:t>
            </a: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spotify
</a:t>
            </a: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artist
</a:t>
            </a: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Total_no_Tracks </a:t>
            </a: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395728"/>
            <a:ext cx="2103120" cy="34747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7448" y="23957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2395728"/>
            <a:ext cx="1965960" cy="34747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0568" y="239572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Total_no_Tracks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743200"/>
            <a:ext cx="2103120" cy="30175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7448" y="274320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Gorillaz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2743200"/>
            <a:ext cx="1965960" cy="30175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0568" y="2743200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063240"/>
            <a:ext cx="2103120" cy="301752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7448" y="306324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 Swift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3063240"/>
            <a:ext cx="1965960" cy="301752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0568" y="3063240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383280"/>
            <a:ext cx="2103120" cy="30175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27448" y="338328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Bunny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66560" y="3383280"/>
            <a:ext cx="1965960" cy="30175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0568" y="3383280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703320"/>
            <a:ext cx="2103120" cy="301752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27448" y="370332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Weeknd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66560" y="3703320"/>
            <a:ext cx="1965960" cy="301752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30568" y="3703320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QUERIES: MEDIUM LEVEL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786384"/>
            <a:ext cx="3200400" cy="36576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8503920" cy="80467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75488" cy="804672"/>
          </a:xfrm>
          <a:prstGeom prst="rect">
            <a:avLst/>
          </a:prstGeom>
          <a:solidFill>
            <a:srgbClr val="148040"/>
          </a:solidFill>
          <a:ln w="12700">
            <a:solidFill>
              <a:srgbClr val="148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4754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04241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average danceability of tracks in each album.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938528"/>
            <a:ext cx="8503920" cy="80467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938528"/>
            <a:ext cx="475488" cy="804672"/>
          </a:xfrm>
          <a:prstGeom prst="rect">
            <a:avLst/>
          </a:prstGeom>
          <a:solidFill>
            <a:srgbClr val="148040"/>
          </a:solidFill>
          <a:ln w="12700">
            <a:solidFill>
              <a:srgbClr val="148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38528"/>
            <a:ext cx="4754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1975104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top 5 tracks with the highest energy values.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2871216"/>
            <a:ext cx="8503920" cy="80467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871216"/>
            <a:ext cx="475488" cy="804672"/>
          </a:xfrm>
          <a:prstGeom prst="rect">
            <a:avLst/>
          </a:prstGeom>
          <a:solidFill>
            <a:srgbClr val="148040"/>
          </a:solidFill>
          <a:ln w="12700">
            <a:solidFill>
              <a:srgbClr val="148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871216"/>
            <a:ext cx="4754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" y="290779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tracks with their views and likes where official_video = TRUE.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3803904"/>
            <a:ext cx="8503920" cy="80467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803904"/>
            <a:ext cx="475488" cy="804672"/>
          </a:xfrm>
          <a:prstGeom prst="rect">
            <a:avLst/>
          </a:prstGeom>
          <a:solidFill>
            <a:srgbClr val="148040"/>
          </a:solidFill>
          <a:ln w="12700">
            <a:solidFill>
              <a:srgbClr val="1480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803904"/>
            <a:ext cx="4754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tracks that have been streamed more on Spotify than YouTube.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MEDIUM LEVEL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Average Danceability of Tracks in Each Album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943600" cy="36576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11373" t="46311" r="15923" b="14988"/>
          <a:stretch>
            <a:fillRect/>
          </a:stretch>
        </p:blipFill>
        <p:spPr>
          <a:xfrm>
            <a:off x="320040" y="1123833"/>
            <a:ext cx="6182752" cy="16318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C0B2F5-67C3-45B3-8EBD-226505C022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615" t="62961" r="14846" b="5312"/>
          <a:stretch>
            <a:fillRect/>
          </a:stretch>
        </p:blipFill>
        <p:spPr>
          <a:xfrm>
            <a:off x="3291840" y="3043897"/>
            <a:ext cx="5352758" cy="16318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MEDIUM LEVEL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Top 5 Tracks with Highest Energy Values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60520" cy="1417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14984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
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track,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(energy) </a:t>
            </a: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Highest_energy
</a:t>
            </a: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spotify
</a:t>
            </a: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
</a:t>
            </a: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Highest_energy </a:t>
            </a: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r>
              <a:rPr lang="en-US" sz="1200" b="1" dirty="0"/>
              <a:t>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2834640" cy="320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18304" y="960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0" y="960120"/>
            <a:ext cx="1280160" cy="320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52944" y="960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2834640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2801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98080" y="1280160"/>
            <a:ext cx="1280160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52944" y="1280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591056"/>
            <a:ext cx="2834640" cy="292608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159105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Entertained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98080" y="1591056"/>
            <a:ext cx="1280160" cy="292608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52944" y="15910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1901952"/>
            <a:ext cx="2834640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8304" y="19019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98080" y="1901952"/>
            <a:ext cx="1280160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52944" y="19019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0.998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2212848"/>
            <a:ext cx="2834640" cy="292608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18304" y="22128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Legends Never Die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498080" y="2212848"/>
            <a:ext cx="1280160" cy="292608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52944" y="22128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0.997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2523744"/>
            <a:ext cx="2834640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18304" y="252374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498080" y="2523744"/>
            <a:ext cx="1280160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52944" y="25237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0.995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20040" y="254203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Tracks with Views &amp; Likes (Official Video = TRUE)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20040" y="2926080"/>
            <a:ext cx="4160520" cy="1417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2990088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
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track,
  views,
  likes
</a:t>
            </a: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Spotify
</a:t>
            </a: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official_video = 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'TRUE'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63440" y="2926080"/>
            <a:ext cx="4160520" cy="141732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999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00600" y="32918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only official music video tracks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track name, view count, and like count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from 20,594 total tracks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MEDIUM LEVEL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Tracks Streamed More on Spotify than YouTube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943600" cy="36576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41CBFD-146A-37BE-476F-CB92558C3E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47" t="32601" r="14076" b="9772"/>
          <a:stretch>
            <a:fillRect/>
          </a:stretch>
        </p:blipFill>
        <p:spPr>
          <a:xfrm>
            <a:off x="320040" y="1219316"/>
            <a:ext cx="5584874" cy="29640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QUERIES: ADVANCED LEVEL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786384"/>
            <a:ext cx="3200400" cy="36576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8503920" cy="107899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75488" cy="1078992"/>
          </a:xfrm>
          <a:prstGeom prst="rect">
            <a:avLst/>
          </a:prstGeom>
          <a:solidFill>
            <a:srgbClr val="0D7340"/>
          </a:solidFill>
          <a:ln w="12700">
            <a:solidFill>
              <a:srgbClr val="0D73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475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097280"/>
            <a:ext cx="7863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top 3 most-viewed tracks for each artist using Window Functions.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240280"/>
            <a:ext cx="8503920" cy="107899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240280"/>
            <a:ext cx="475488" cy="1078992"/>
          </a:xfrm>
          <a:prstGeom prst="rect">
            <a:avLst/>
          </a:prstGeom>
          <a:solidFill>
            <a:srgbClr val="0D7340"/>
          </a:solidFill>
          <a:ln w="12700">
            <a:solidFill>
              <a:srgbClr val="0D73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240280"/>
            <a:ext cx="475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2331720"/>
            <a:ext cx="7863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tracks where the liveness score is above the average.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474720"/>
            <a:ext cx="8503920" cy="107899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474720"/>
            <a:ext cx="475488" cy="1078992"/>
          </a:xfrm>
          <a:prstGeom prst="rect">
            <a:avLst/>
          </a:prstGeom>
          <a:solidFill>
            <a:srgbClr val="0D7340"/>
          </a:solidFill>
          <a:ln w="12700">
            <a:solidFill>
              <a:srgbClr val="0D73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474720"/>
            <a:ext cx="475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" y="3566160"/>
            <a:ext cx="7863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WITH clause to calculate energy difference (highest − lowest) per album.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ADVANCED LEVEL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Calculate the cumulative sum of likes for tracks ordered by the number of views, using window functions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6400800" cy="36576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A513363-07A7-A28A-D59A-6EF1513C99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769" t="24923" r="8539" b="7433"/>
          <a:stretch>
            <a:fillRect/>
          </a:stretch>
        </p:blipFill>
        <p:spPr>
          <a:xfrm>
            <a:off x="407963" y="1143000"/>
            <a:ext cx="5824024" cy="34792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ADVANCED LEVEL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Tracks where Liveness Score is Above Average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389120" cy="1417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41605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
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track, Artist, liveness
</a:t>
            </a: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Spotify
</a:t>
            </a: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liveness &gt; (
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AVG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(liveness) </a:t>
            </a: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spotify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37760" y="960120"/>
            <a:ext cx="3840480" cy="141732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4920" y="1024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Subquery Pattern: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4920" y="1325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SELECT AVG(liveness) computes the dataset average first. The outer query then filters only tracks scoring above that threshold — no hardcoded value needed.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54203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Energy Difference per Album using WITH Clause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926080"/>
            <a:ext cx="5943600" cy="36576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13937" t="22781" r="19231" b="15065"/>
          <a:stretch>
            <a:fillRect/>
          </a:stretch>
        </p:blipFill>
        <p:spPr>
          <a:xfrm>
            <a:off x="313006" y="3054096"/>
            <a:ext cx="5806440" cy="20241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QUERY OPTIMIZATION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786384"/>
            <a:ext cx="4114800" cy="36576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EXPLAIN ANALYZE + Indexing on the artist column to drastically improve PostgreSQL query performance.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3977640" cy="1664208"/>
          </a:xfrm>
          <a:prstGeom prst="rect">
            <a:avLst/>
          </a:prstGeom>
          <a:solidFill>
            <a:srgbClr val="161616"/>
          </a:solidFill>
          <a:ln w="25400">
            <a:solidFill>
              <a:srgbClr val="7B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44752"/>
            <a:ext cx="3977640" cy="411480"/>
          </a:xfrm>
          <a:prstGeom prst="rect">
            <a:avLst/>
          </a:prstGeom>
          <a:solidFill>
            <a:srgbClr val="7B1A1A"/>
          </a:solidFill>
          <a:ln w="12700">
            <a:solidFill>
              <a:srgbClr val="7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447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INDEXING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Time: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06040" y="19202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0.076 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22860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4.160 ms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6700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Full Table Scan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52544" y="2011680"/>
            <a:ext cx="987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30×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94960" y="1444752"/>
            <a:ext cx="3429000" cy="1664208"/>
          </a:xfrm>
          <a:prstGeom prst="rect">
            <a:avLst/>
          </a:prstGeom>
          <a:solidFill>
            <a:srgbClr val="161616"/>
          </a:solidFill>
          <a:ln w="25400">
            <a:solidFill>
              <a:srgbClr val="0D73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1444752"/>
            <a:ext cx="3429000" cy="411480"/>
          </a:xfrm>
          <a:prstGeom prst="rect">
            <a:avLst/>
          </a:prstGeom>
          <a:solidFill>
            <a:srgbClr val="0D7340"/>
          </a:solidFill>
          <a:ln w="12700">
            <a:solidFill>
              <a:srgbClr val="0D73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4447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INDEXING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32120" y="19202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Time: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06640" y="19202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0.096 ms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32120" y="22860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0" y="22860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0.137 ms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32120" y="26700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Bitmap Index Scan (artist_index)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291840"/>
            <a:ext cx="850392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4015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index_artist ON </a:t>
            </a: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spotify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r>
              <a:rPr lang="en-US" sz="14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Single line → Massive performance improvement!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0040" y="42062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Over-indexing is harmful — it slows down INSERT, UPDATE, DELETE operations (DML)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QUERY OPTIMIZATION — EXPLAIN ANALYZE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86384"/>
            <a:ext cx="6400800" cy="36576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32688"/>
            <a:ext cx="4069080" cy="347472"/>
          </a:xfrm>
          <a:prstGeom prst="rect">
            <a:avLst/>
          </a:prstGeom>
          <a:solidFill>
            <a:srgbClr val="7B1A1A"/>
          </a:solidFill>
          <a:ln w="12700">
            <a:solidFill>
              <a:srgbClr val="7B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32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INDEXING  |  Exec: 4.160 ms</a:t>
            </a:r>
            <a:endParaRPr lang="en-US" sz="11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98448"/>
            <a:ext cx="4069080" cy="2331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54880" y="932688"/>
            <a:ext cx="4069080" cy="347472"/>
          </a:xfrm>
          <a:prstGeom prst="rect">
            <a:avLst/>
          </a:prstGeom>
          <a:solidFill>
            <a:srgbClr val="0D7340"/>
          </a:solidFill>
          <a:ln w="12700">
            <a:solidFill>
              <a:srgbClr val="0D734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6320" y="932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INDEXING  |  Exec: 0.137 ms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298448"/>
            <a:ext cx="4069080" cy="23317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0040" y="3794760"/>
            <a:ext cx="8503920" cy="548640"/>
          </a:xfrm>
          <a:prstGeom prst="rect">
            <a:avLst/>
          </a:prstGeom>
          <a:solidFill>
            <a:srgbClr val="0A1A10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3822192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time: 4.160 ms  →  0.137 ms  |  Performance improved ~30× by adding index on artist column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EXECUTION PLAN — GRAPHICAL 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786384"/>
            <a:ext cx="5943600" cy="36576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Indexing — Sequential Scan  (spotify → Sort → Limit)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8503920" cy="1051560"/>
          </a:xfrm>
          <a:prstGeom prst="rect">
            <a:avLst/>
          </a:prstGeom>
          <a:solidFill>
            <a:srgbClr val="0D0D0D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98448"/>
            <a:ext cx="8412480" cy="9875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4231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Indexing — Bitmap Index Scan  (artist_index → spotify → Sort → Limit)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" y="2724912"/>
            <a:ext cx="8503920" cy="1051560"/>
          </a:xfrm>
          <a:prstGeom prst="rect">
            <a:avLst/>
          </a:prstGeom>
          <a:solidFill>
            <a:srgbClr val="0D0D0D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761488"/>
            <a:ext cx="8412480" cy="9875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" y="38862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tab — Bitmap Index Scan using artist_index with filter conditions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20040" y="4187952"/>
            <a:ext cx="8503920" cy="822960"/>
          </a:xfrm>
          <a:prstGeom prst="rect">
            <a:avLst/>
          </a:prstGeom>
          <a:solidFill>
            <a:srgbClr val="0D0D0D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224528"/>
            <a:ext cx="8412480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786384"/>
            <a:ext cx="2743200" cy="36576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8503920" cy="71323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33272"/>
            <a:ext cx="621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🎧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05840" y="1115568"/>
            <a:ext cx="36576" cy="47548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033272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with 1B+ streams are dominated by global artists — Gorillaz, Coldplay, Red Hot Chili Peppers appear frequently in the dataset.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1810512"/>
            <a:ext cx="8503920" cy="71323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37944"/>
            <a:ext cx="621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05840" y="1920240"/>
            <a:ext cx="36576" cy="47548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1837944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 tracks are streamed more on Spotify than YouTube, confirming Spotify's dominance for pure audio consumption.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2615184"/>
            <a:ext cx="8503920" cy="71323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42616"/>
            <a:ext cx="621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005840" y="2724912"/>
            <a:ext cx="36576" cy="47548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2642616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danceability peaks at 0.975 — 'Funky Friday' and 'FOR CERTAIN (Deluxe)' top the charts in danceability.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0040" y="3419856"/>
            <a:ext cx="8503920" cy="71323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447288"/>
            <a:ext cx="621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005840" y="3529584"/>
            <a:ext cx="36576" cy="47548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3447288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execution time dropped from 4.160 ms to 0.137 ms (~30× faster) simply by creating an index on the artist column.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0040" y="4224528"/>
            <a:ext cx="8503920" cy="71323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251960"/>
            <a:ext cx="621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005840" y="4334256"/>
            <a:ext cx="36576" cy="47548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4251960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Gorillaz leads with 59 tracks in the dataset, followed by Taylor Swift (48) and Bad Bunny (46).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786384"/>
            <a:ext cx="3657600" cy="36576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51560"/>
            <a:ext cx="8503920" cy="80467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658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78992" y="1124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453896"/>
            <a:ext cx="7635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Database — DDL, DML, Aggregations, Joins, Subqueries, Window Functions, Indexing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84248"/>
            <a:ext cx="8503920" cy="80467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84248"/>
            <a:ext cx="658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🛠️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78992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pgAdmin 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992" y="2386584"/>
            <a:ext cx="7635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Editor + EXPLAIN ANALYZE for performance profiling and execution plan visualization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916936"/>
            <a:ext cx="8503920" cy="80467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16936"/>
            <a:ext cx="658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📂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78992" y="29900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3319272"/>
            <a:ext cx="7635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Dataset by Sanjana Chaudhari — multi-attribute music data (streams, energy, danceability…)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849624"/>
            <a:ext cx="8503920" cy="804672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849624"/>
            <a:ext cx="658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78992" y="39227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Concepts Used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78992" y="4251960"/>
            <a:ext cx="7635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(WITH), DENSE_RANK(), CASE WHEN, COALESCE, Subqueries, NULLIF, Window Functions, CREATE INDEX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754880"/>
            <a:ext cx="8503920" cy="292608"/>
          </a:xfrm>
          <a:prstGeom prst="rect">
            <a:avLst/>
          </a:prstGeom>
          <a:solidFill>
            <a:srgbClr val="0A1A10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731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kaggle.com/datasets/sanjanchaudhari/spotify-dataset  |  Tool: PostgreSQL 17 + pgAdmin 4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1148</Words>
  <Application>Microsoft Office PowerPoint</Application>
  <PresentationFormat>On-screen Show (16:9)</PresentationFormat>
  <Paragraphs>199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Spotify SQL Data Analysis</dc:title>
  <dc:subject>PptxGenJS Presentation</dc:subject>
  <dc:creator>Mahesh Thakare</dc:creator>
  <cp:lastModifiedBy>mahesh Thakare</cp:lastModifiedBy>
  <cp:revision>2</cp:revision>
  <dcterms:created xsi:type="dcterms:W3CDTF">2026-03-22T11:38:48Z</dcterms:created>
  <dcterms:modified xsi:type="dcterms:W3CDTF">2026-03-22T12:03:43Z</dcterms:modified>
</cp:coreProperties>
</file>